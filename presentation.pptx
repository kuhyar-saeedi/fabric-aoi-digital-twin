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Checkered Fabric AOI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B8E0C8"/>
                </a:solidFill>
                <a:latin typeface="Calibri"/>
              </a:rPr>
              <a:t>Digital Twin &amp; Quality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Track 2 — Digital Twin, Data-Driven (Quality Monitoring)  +  Track 3 — RAG for Industrial Knowledge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Kuhyar Saeedi  ·  Danial Mahmoody  ·  Davood Jokar  ·  Mahyar Emami  ·  Nima Shahrokhi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CCDDD3"/>
                </a:solidFill>
                <a:latin typeface="Calibri"/>
              </a:rPr>
              <a:t>Smart Factories — A.Y. 2025-2026  |  Prof. Annalisa Santolamazza  |  Universita degli Studi di Roma Tor Vergata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Case: An AOI Station on a Checkered Fabric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  <a:latin typeface="Calibri"/>
              </a:rPr>
              <a:t>Yarn is woven into a checkered (gingham) cotton fabric. A camera at the finishing/inspection frame captures images of the moving fabric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Each image patch must be classified into one of three categories:</a:t>
            </a:r>
          </a:p>
          <a:p>
            <a:pPr lvl="1">
              <a:spcAft>
                <a:spcPts val="800"/>
              </a:spcAft>
            </a:pPr>
            <a:r>
              <a:rPr sz="1450">
                <a:solidFill>
                  <a:srgbClr val="424242"/>
                </a:solidFill>
                <a:latin typeface="Calibri"/>
              </a:rPr>
              <a:t>– Circle — a roughly circular hole / puncture in the weave</a:t>
            </a:r>
          </a:p>
          <a:p>
            <a:pPr lvl="1">
              <a:spcAft>
                <a:spcPts val="800"/>
              </a:spcAft>
            </a:pPr>
            <a:r>
              <a:rPr sz="1450">
                <a:solidFill>
                  <a:srgbClr val="424242"/>
                </a:solidFill>
                <a:latin typeface="Calibri"/>
              </a:rPr>
              <a:t>– Line — a linear scratch, cut, or abrasion mark</a:t>
            </a:r>
          </a:p>
          <a:p>
            <a:pPr lvl="1">
              <a:spcAft>
                <a:spcPts val="800"/>
              </a:spcAft>
            </a:pPr>
            <a:r>
              <a:rPr sz="1450">
                <a:solidFill>
                  <a:srgbClr val="424242"/>
                </a:solidFill>
                <a:latin typeface="Calibri"/>
              </a:rPr>
              <a:t>– No defect — a clean, regular checkered pattern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Two complementary tracks, one shared dashboard:</a:t>
            </a:r>
          </a:p>
          <a:p>
            <a:pPr lvl="1">
              <a:spcAft>
                <a:spcPts val="800"/>
              </a:spcAft>
            </a:pPr>
            <a:r>
              <a:rPr sz="1450">
                <a:solidFill>
                  <a:srgbClr val="424242"/>
                </a:solidFill>
                <a:latin typeface="Calibri"/>
              </a:rPr>
              <a:t>– Track 2: train + evaluate a defect classifier (Digital Twin Entity)</a:t>
            </a:r>
          </a:p>
          <a:p>
            <a:pPr lvl="1">
              <a:spcAft>
                <a:spcPts val="800"/>
              </a:spcAft>
            </a:pPr>
            <a:r>
              <a:rPr sz="1450">
                <a:solidFill>
                  <a:srgbClr val="424242"/>
                </a:solidFill>
                <a:latin typeface="Calibri"/>
              </a:rPr>
              <a:t>– Track 3: Quality Assistant answers “what caused this, what do I do?”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424242"/>
                </a:solidFill>
                <a:latin typeface="Calibri"/>
              </a:rPr>
              <a:t>Circle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0312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4023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424242"/>
                </a:solidFill>
                <a:latin typeface="Calibri"/>
              </a:rPr>
              <a:t>Line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10312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0" y="4023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424242"/>
                </a:solidFill>
                <a:latin typeface="Calibri"/>
              </a:rPr>
              <a:t>No defect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669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424242"/>
                </a:solidFill>
                <a:latin typeface="Calibri"/>
              </a:rPr>
              <a:t>The Defect Classifier (Track 2) and Quality Assistant (Track 3) are integrated into a single 5-page Streamlit dashboard: a defect prediction automatically surfaces the relevant SOP from the knowledge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ISO 23247 Reference Architecture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24242"/>
                </a:solidFill>
                <a:latin typeface="Calibri"/>
              </a:rPr>
              <a:t>ISO 23247 defines five entity types for a manufacturing digital twin. Mapping the project onto them is what makes it a digital twin, not just an ML model.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6400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ISO 23247 Entity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Observable Manufacturing</a:t>
                      </a:r>
                    </a:p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Element (OME)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The fabric web at the inspection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Device Communication</a:t>
                      </a:r>
                    </a:p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Entity (DCE)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AOI camera / frame grabber capturing fabric images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Data Collection &amp;</a:t>
                      </a:r>
                    </a:p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Device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Pre-processing: resize to 224x224, normalisation, augmentation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Digital Twin Entity</a:t>
                      </a:r>
                    </a:p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(Core)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ResNet18 classifier + Grad-CAM explainability module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User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Streamlit dashboard — Defect Classifier + Quality Assistant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Cross System Entity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MES / QMS for traceability (discussed conceptually for deployment)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TRACK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Digital Twin, Data-Driven — Quality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D9EFE3"/>
                </a:solidFill>
                <a:latin typeface="Calibri"/>
              </a:rPr>
              <a:t>Dataset &amp; EDA  ·  Model &amp; Methodology  ·  5-Fold CV Results  ·  Grad-CAM  ·  Critical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and Exploratory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150 images total — perfectly balanced: 50 Circle / 50 Line / 50 No defect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3072 x 3072 px photographs of the same blue/yellow checkered fabric sample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Circle &amp; Line defects created by placing a physical object (punched hole, ruler/blade) on good fabric to simulate defect signatures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All images valid, readable, uniquely named, same resolution and RGB mode — no missing values or corrupt files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Resized to 224x224 during pre-processing, regardless of native size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24242"/>
                </a:solidFill>
                <a:latin typeface="Calibri"/>
              </a:rPr>
              <a:t>▪ EDA confirms: no class shows a systematically different mean brightness — the model cannot rely on a brightness shortcut</a:t>
            </a:r>
          </a:p>
        </p:txBody>
      </p:sp>
      <p:pic>
        <p:nvPicPr>
          <p:cNvPr id="6" name="Picture 5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01900"/>
            <a:ext cx="5943600" cy="2311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and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Architecture: ResNet18 pretrained on ImageNet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Convolutional backbone FROZEN; final layer replaced with a fresh 3-class linear head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Only the head is trained — 8 epochs, Adam (lr = 1e-3), cross-entropy loss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Why transfer learning + frozen backbone?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With only 150 images, fine-tuning the full network would overfit badly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ImageNet features (edges, textures, shapes) transfer well to fabric images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The model only has to learn the final 3-class decision boundary — a much smaller, better-posed learning problem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Pre-processing &amp; augmentation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All images resized to 224x224 and converted to tensors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Training augmentation: random horizontal flip, random rotation (±10°), colour jitter — reduces overfitting on the small dataset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Evaluation uses a deterministic resize-only transform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Validation protocol: stratified 5-fold cross-validation (random_state = 42)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Each fold trains on 120 images (24/class x 5), tests on 30 (10/class)</a:t>
            </a:r>
          </a:p>
          <a:p>
            <a:pPr lvl="1">
              <a:spcAft>
                <a:spcPts val="600"/>
              </a:spcAft>
            </a:pPr>
            <a:r>
              <a:rPr sz="1350">
                <a:solidFill>
                  <a:srgbClr val="424242"/>
                </a:solidFill>
                <a:latin typeface="Calibri"/>
              </a:rPr>
              <a:t>– Every image used for testing exactly once across the 5 folds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Results: 5-Fold Cross-Validation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l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5910"/>
            <a:ext cx="6858000" cy="4000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463040"/>
            <a:ext cx="4114800" cy="146304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002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4A2A"/>
                </a:solidFill>
                <a:latin typeface="Calibri"/>
              </a:rPr>
              <a:t>Average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0B4A2A"/>
                </a:solidFill>
                <a:latin typeface="Calibri"/>
              </a:rPr>
              <a:t>94.0%  (±4.9%)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0040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Per-fold range: 87% – 100%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150 images, 8 epochs/fold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With 30 test images/fold, one misclassification = ~3.3 pp shift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The observed spread is expected sampling noise for this dataset size — not model instability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Headline 94% should always be reported with its std. dev.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Confusion Matrix and Classification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" y="1280160"/>
            <a:ext cx="5143500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46304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1E71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Circle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24242"/>
                          </a:solidFill>
                        </a:rPr>
                        <a:t>No 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24242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4A2A"/>
                          </a:solidFill>
                        </a:rPr>
                        <a:t>macro avg</a:t>
                      </a:r>
                    </a:p>
                  </a:txBody>
                  <a:tcPr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4A2A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4A2A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4A2A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4A2A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E3F1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393192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Largest confusion: 2 Circle → No defect, 7 No defect → Circle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Line classified perfectly (precision = recall = 1.00)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24242"/>
                </a:solidFill>
                <a:latin typeface="Calibri"/>
              </a:rPr>
              <a:t>▪ A small/faint hole can visually resemble a normal weave gap under uneven lighting — a linear scratch is more visually distinctive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Explainability: Grad-CAM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24242"/>
                </a:solidFill>
                <a:latin typeface="Calibri"/>
              </a:rPr>
              <a:t>Grad-CAM on the last residual block (layer4) highlights the image regions most responsible for the predicted class — lets an operator verify the model is reacting to the actual defect, not lighting/staging artefacts.</a:t>
            </a:r>
          </a:p>
        </p:txBody>
      </p:sp>
      <p:pic>
        <p:nvPicPr>
          <p:cNvPr id="6" name="Picture 5" descr="gradca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66467"/>
            <a:ext cx="9966960" cy="35881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Critical Discussion — Track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Dataset size: only 150 images (50/class). 5-fold CV gives a robust relative comparison, but std = 4.9% means the absolute accuracy estimate has wide uncertainty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Staged vs. real defects: Circle/Line defects were created by placing physical objects on good fabric — real weaving defects (yarn pull-outs, abrasion) may have different edge/shadow signatures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Frozen backbone caps achievable accuracy — fine-tuning deeper layers with more data could improve Circle vs. No-defect discrimination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Single fabric pattern: the model has only seen this one blue/yellow check — a different weave/colour would need additional labelled data and retraining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Real deployment: edge device runs the same pipeline at line speed; each prediction (class, confidence, Grad-CAM region, roll ID, timestamp) is logged to the MES/QMS for traceability and SPC charting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A confidence threshold (e.g. 0.7-0.8) would route low-confidence predictions to human review rather than auto-classifying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TRACK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RAG for Industrial Knowledge Management — Quality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CCEEE8"/>
                </a:solidFill>
                <a:latin typeface="Calibri"/>
              </a:rPr>
              <a:t>Use Case  ·  Corpus Design  ·  System Architecture  ·  15-Query Evaluation  ·  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Use Case and User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  <a:latin typeface="Calibri"/>
              </a:rPr>
              <a:t>Operators and quality engineers need fast, natural-language access to SOPs, corrective actions, and quality standards — without searching paper manuals.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Operator who just received a Circle/Line prediction wants to immediately know the likely root causes and corrective action — closing the loop from detection to action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New operator wants to understand how the digital twin works (ISO 23247 mapping, model performance, limitations) without reading full documentation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Quality engineer wants to relate AOI output to the mill's existing point-grading quality standard (4-point fabric inspection system)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Technician wants the AOI station's maintenance/calibration checklist on demand at the inspection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Corpus Design — 12-Document Knowledge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24242"/>
                </a:solidFill>
                <a:latin typeface="Calibri"/>
              </a:rPr>
              <a:t>Illustrative SOP/standards corpus written for this project. Each document is a short (200-400 word) retrievable unit — no chunking needed at this scale, which keeps citations interpretable.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1. Process Overview — Checkered Fabric Weaving and Inspection Line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2. ISO 23247 Mapping — Digital Twin Reference Architecture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3. What Makes This a Data-Driven Digital Twin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4. Dataset and Model — 150 Images, ResNet18, Grad-CAM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5. Model Performance — 5-Fold Cross-Validation Results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6. SOP — Circle Defect (Hole / Puncture)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7. SOP — Line Defect (Scratch / Cut Mark)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8. SOP — “No Defect” Classification and False-Negative Risk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9. Quality Standard Reference — 4-Point Fabric Inspection System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10. AOI Station Maintenance and Calibration Guide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11. Deployment and Integration in a Real Industrial System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12. Critical Discussion — Dataset and Model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Architecture: Retrieval +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651760" cy="420624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51760" cy="54864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1.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377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Operator asks a question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(chat input or auto-triggered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after a defect prediction)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18688" y="3383280"/>
            <a:ext cx="192024" cy="457200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54480"/>
            <a:ext cx="2651760" cy="4206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2651760" cy="54864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2.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377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TF-IDF vector search over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12 documents (cosine similarity)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→ top-3 ranked results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(optional: sentence-transformers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semantic embeddings)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99048" y="3383280"/>
            <a:ext cx="192024" cy="457200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2651760" cy="420624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54864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3.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40280"/>
            <a:ext cx="2377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Default: extractive — top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sentences assembled from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retrieved docs (offline, zero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hallucination risk)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Optional: Claude Haiku 4.5,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grounded by context-only prompt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79408" y="3383280"/>
            <a:ext cx="192024" cy="457200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554480"/>
            <a:ext cx="2651760" cy="4206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554480"/>
            <a:ext cx="2651760" cy="54864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554480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4. Answer +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40280"/>
            <a:ext cx="2377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Chat response with an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expandable “Sources” panel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showing retrieved docs and</a:t>
            </a:r>
          </a:p>
          <a:p>
            <a:pPr algn="l"/>
            <a:r>
              <a:rPr sz="1250" b="0" i="0">
                <a:solidFill>
                  <a:srgbClr val="424242"/>
                </a:solidFill>
                <a:latin typeface="Calibri"/>
              </a:rPr>
              <a:t>relevance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424242"/>
                </a:solidFill>
                <a:latin typeface="Calibri"/>
              </a:rPr>
              <a:t>Fully offline by default (TF-IDF + extractive). Claude path only used if ANTHROPIC_API_KEY is configured — same retrieval layer, more fluent answers.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— 15 Representative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24242"/>
                          </a:solidFill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24242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24242"/>
                          </a:solidFill>
                        </a:rPr>
                        <a:t>No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24242"/>
                          </a:solidFill>
                        </a:rPr>
                        <a:t>Hallucinated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24242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Correct (12/15): single-document queries — SOPs, ISO mapping, model performance, maintenance, deployment — all retrieved and answered correctly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Partial (2/15): severity comparison &amp; confidence threshold — info split across two documents, not always combined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No answer (1/15): out-of-scope query (cotton yarn price) — system correctly returns low-relevance docs, doesn't fabricate an answer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Hallucinated (0/15): extractive composer can only return real corpus sentences; Claude path is grounded by “context-only”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695C"/>
                </a:solidFill>
                <a:latin typeface="Calibri"/>
              </a:rPr>
              <a:t>Sample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74519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“What causes a Circle defect and how do I fix it?” → Correct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“Why is this a data-driven Digital Twin rather than a simulation?” → Correct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“Why does per-fold accuracy vary between 83% and 100%?” → Correct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“How would this integrate with a factory MES/QMS?” → Correct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“Is a Circle defect more severe than a Line defect?” → Partial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“What confidence threshold should trigger human review?” → Partial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24242"/>
                </a:solidFill>
                <a:latin typeface="Calibri"/>
              </a:rPr>
              <a:t>▪ “What is the current market price of cotton yarn?” → No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Benefits, Limitations and Deployment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0292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Closes the loop: defect prediction → relevant SOP, no manual lookup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Fully offline by default — no API cost, no data leaves the factory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Source-cited answers with relevance scores — verifiable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Optional Claude upgrade without changing retrieval/corpus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80160"/>
            <a:ext cx="3657600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28016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202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12-doc corpus is illustrative, not sourced from real mill manuals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TF-IDF is lexical — can miss paraphrased queries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Weak multi-document synthesis (seen in “partial” results)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No feedback loop from operator corrections into the corpus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3657600" cy="5029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Deployment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Corpus maintenance — keeping SOPs/standards up to date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Access control — some SOPs may be commercially sensitive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Integration with Cross System Entity (live MES/QMS records)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24242"/>
                </a:solidFill>
                <a:latin typeface="Calibri"/>
              </a:rPr>
              <a:t>▪ Offline fallback needed for unreliable shop-floor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Track 2: ResNet18 (frozen backbone, 3-class head) reaches 94.0% (±4.9%) average accuracy on stratified 5-fold CV over 150 images, with Grad-CAM giving the operator a per-prediction view of model attention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Track 3: 12-document SOP/standards knowledge base via TF-IDF retrieval, achieved 12/15 correct, 2/15 partial, 1/15 no-answer, 0/15 hallucinated on the required 15-query evaluation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Both tracks integrated in a single 5-page Streamlit dashboard — a defect prediction automatically triggers the relevant SOP lookup (detection-to-action)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ISO 23247 mapping situates both components as parts of one Digital Twin: OME, DCE, Digital Twin Entity, User Entity, Cross System Entity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24242"/>
                </a:solidFill>
                <a:latin typeface="Calibri"/>
              </a:rPr>
              <a:t>▪ Honest limitations documented: small/staged dataset, illustrative SOP corpus, single fabric pattern — with concrete recommendations for moving from prototype to pilot (confidence-threshold human review, retraining pipeline, real mill documentation)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Calibri"/>
              </a:rPr>
              <a:t>Checkered Fabric AOI Digital Twin — Smart Factories A.Y.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B8E0C8"/>
                </a:solidFill>
                <a:latin typeface="Consolas"/>
              </a:rPr>
              <a:t>streamlit run 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EDA  ·  Defect Classifier + Grad-CAM  ·  Model Performance  ·  Quality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